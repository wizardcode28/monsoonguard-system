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SMART INDIA HACKATHON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MonsoonGuard AI: Hyper-Local Monsoon Prediction &amp; Agro-Advisory Engine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diagram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6217920" cy="266334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132320" y="1600200"/>
            <a:ext cx="42976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/>
          <a:lstStyle/>
          <a:p>
            <a:pPr algn="ctr"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Problem Statement ID: </a:t>
            </a:r>
            <a:r>
              <a:rPr b="0" sz="1100">
                <a:solidFill>
                  <a:srgbClr val="334155"/>
                </a:solidFill>
              </a:rPr>
              <a:t>26086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Problem Statement Title: </a:t>
            </a:r>
            <a:r>
              <a:rPr b="0" sz="1100">
                <a:solidFill>
                  <a:srgbClr val="334155"/>
                </a:solidFill>
              </a:rPr>
              <a:t>AI/ML-Based Downscaling of NWP for Block-Level Monsoon Rainfall &amp; Extreme Events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Ministry / Organization: </a:t>
            </a:r>
            <a:r>
              <a:rPr b="0" sz="1100">
                <a:solidFill>
                  <a:srgbClr val="334155"/>
                </a:solidFill>
              </a:rPr>
              <a:t>Ministry of Earth Sciences (MoES) / NCMRWF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Theme: </a:t>
            </a:r>
            <a:r>
              <a:rPr b="0" sz="1100">
                <a:solidFill>
                  <a:srgbClr val="334155"/>
                </a:solidFill>
              </a:rPr>
              <a:t>Agriculture, FoodTech &amp; Rural Development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PS Category: </a:t>
            </a:r>
            <a:r>
              <a:rPr b="0" sz="1100">
                <a:solidFill>
                  <a:srgbClr val="334155"/>
                </a:solidFill>
              </a:rPr>
              <a:t>Software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Target Workforces: </a:t>
            </a:r>
            <a:r>
              <a:rPr b="0" sz="1100">
                <a:solidFill>
                  <a:srgbClr val="334155"/>
                </a:solidFill>
              </a:rPr>
              <a:t>140M+ Indian Farmers, KVKs, District Agriculture Officers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Live Frontend URL: </a:t>
            </a:r>
            <a:r>
              <a:rPr b="0" sz="1100">
                <a:solidFill>
                  <a:srgbClr val="334155"/>
                </a:solidFill>
              </a:rPr>
              <a:t>https://monsoonguard-system.vercel.app/</a:t>
            </a:r>
          </a:p>
          <a:p>
            <a:pPr>
              <a:spcAft>
                <a:spcPts val="800"/>
              </a:spcAft>
            </a:pPr>
            <a:r>
              <a:rPr b="1" sz="1200">
                <a:solidFill>
                  <a:srgbClr val="0F172A"/>
                </a:solidFill>
              </a:rPr>
              <a:t>Live Backend API: </a:t>
            </a:r>
            <a:r>
              <a:rPr b="0" sz="1100">
                <a:solidFill>
                  <a:srgbClr val="334155"/>
                </a:solidFill>
              </a:rPr>
              <a:t>https://monsoonguard-system.onrender.com/docs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Problem Statement &amp; Ground Reality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Limitations of Coarse Numerical Models for Grassroots Farming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D97706"/>
                </a:solidFill>
                <a:latin typeface="Georgia"/>
              </a:defRPr>
            </a:pPr>
            <a:r>
              <a:t>12 km Coarse Grid NWP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Numerical models (GFS / NCUM) operate on 12 km grid cells. Local micro-climates, rain-shadows, and convective storms are smoothed out over hundreds of square kilometers.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0F172A"/>
                </a:solidFill>
                <a:latin typeface="Georgia"/>
              </a:defRPr>
            </a:pPr>
            <a:r>
              <a:t>Critical Monsoon Breaks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Monsoon dry spells (5+ consecutive rainless days during peak vegetative growth) devastate rainfed Kharif crops like Soybean and Paddy if not anticipated 7-10 days early.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0284C7"/>
                </a:solidFill>
                <a:latin typeface="Georgia"/>
              </a:defRPr>
            </a:pPr>
            <a:r>
              <a:t>Complex Teleconnections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Equatorial Pacific ENSO, Indian Ocean Dipole, and MJO waves dictate intra-seasonal monsoon bursts and breaks through highly non-linear atmospheric waves.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023360"/>
            <a:ext cx="5120640" cy="2103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800"/>
              </a:spcAft>
              <a:defRPr sz="1800" b="1">
                <a:solidFill>
                  <a:srgbClr val="059669"/>
                </a:solidFill>
                <a:latin typeface="Georgia"/>
              </a:defRPr>
            </a:pPr>
            <a:r>
              <a:t>Actionability Gap</a:t>
            </a:r>
          </a:p>
          <a:p>
            <a:pPr>
              <a:defRPr sz="1300">
                <a:solidFill>
                  <a:srgbClr val="334155"/>
                </a:solidFill>
                <a:latin typeface="Arial"/>
              </a:defRPr>
            </a:pPr>
            <a:r>
              <a:t>Farmers cannot apply raw millimeter rainfall values. They need direct operational advice: spray windows, sowing delays, and field drainage measures.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Proposed Innovation: Multi-Tier ML Downscaling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Coupling Planetary Climate Oscillations with 1 km Block-Level Quantile Regressors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02_realtime_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669280" cy="336613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75120" y="1600200"/>
            <a:ext cx="47548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Hyper-Local 1 km Downscaling
</a:t>
            </a:r>
            <a:r>
              <a:rPr sz="1200">
                <a:solidFill>
                  <a:srgbClr val="334155"/>
                </a:solidFill>
              </a:rPr>
              <a:t>LightGBM quantile regressors trained on historical IMD gridded observations and digital elevation models, achieving 50.4% lower RMSE than raw GFS.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Planetary Teleconnection Assimilation
</a:t>
            </a:r>
            <a:r>
              <a:rPr sz="1200">
                <a:solidFill>
                  <a:srgbClr val="334155"/>
                </a:solidFill>
              </a:rPr>
              <a:t>Real-time ingestion of ENSO Niño 3.4 SST anomalies, Indian Ocean Dipole (DMI), and 8-phase MJO velocity vectors.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Probabilistic Quantile Bounds (P10, P50, P90)
</a:t>
            </a:r>
            <a:r>
              <a:rPr sz="1200">
                <a:solidFill>
                  <a:srgbClr val="334155"/>
                </a:solidFill>
              </a:rPr>
              <a:t>Provides farmers and officials with risk envelopes rather than misleading single point rainfall forecasts.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Multilingual Agronomic Advisory AI
</a:t>
            </a:r>
            <a:r>
              <a:rPr sz="1200">
                <a:solidFill>
                  <a:srgbClr val="334155"/>
                </a:solidFill>
              </a:rPr>
              <a:t>Rule-based agro-meteorological engine translating forecasts into crop-stage operations (Soybean, Paddy) in Hindi and English.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ML Forecast Downscaling &amp; Dry Spell Radar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16-Day Ensembles with Early Break-Monsoon Warnings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03_ml_forecast_down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6583680" cy="39090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589520" y="1600200"/>
            <a:ext cx="38404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74320"/>
          <a:lstStyle/>
          <a:p>
            <a:pPr algn="ctr">
              <a:spcAft>
                <a:spcPts val="1400"/>
              </a:spcAft>
              <a:defRPr sz="1600" b="1">
                <a:solidFill>
                  <a:srgbClr val="059669"/>
                </a:solidFill>
              </a:defRPr>
            </a:pPr>
            <a:r>
              <a:t>Model Evaluation Benchmarks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RMSE Reduction:
</a:t>
            </a:r>
            <a:r>
              <a:rPr sz="1200">
                <a:solidFill>
                  <a:srgbClr val="334155"/>
                </a:solidFill>
              </a:rPr>
              <a:t>6.18 mm/day (-50.4% vs GFS)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MAE Accuracy:
</a:t>
            </a:r>
            <a:r>
              <a:rPr sz="1200">
                <a:solidFill>
                  <a:srgbClr val="334155"/>
                </a:solidFill>
              </a:rPr>
              <a:t>3.72 mm/day (-54.2% error)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Dry Spell Break F1:
</a:t>
            </a:r>
            <a:r>
              <a:rPr sz="1200">
                <a:solidFill>
                  <a:srgbClr val="334155"/>
                </a:solidFill>
              </a:rPr>
              <a:t>0.912 (High precision)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Heavy Rain ROC-AUC:
</a:t>
            </a:r>
            <a:r>
              <a:rPr sz="1200">
                <a:solidFill>
                  <a:srgbClr val="334155"/>
                </a:solidFill>
              </a:rPr>
              <a:t>0.941 (Accurate alert trigger)</a:t>
            </a:r>
          </a:p>
          <a:p>
            <a:pPr>
              <a:spcAft>
                <a:spcPts val="1000"/>
              </a:spcAft>
            </a:pPr>
            <a:r>
              <a:rPr b="1" sz="1300">
                <a:solidFill>
                  <a:srgbClr val="0F172A"/>
                </a:solidFill>
              </a:rPr>
              <a:t>Inference Latency:
</a:t>
            </a:r>
            <a:r>
              <a:rPr sz="1200">
                <a:solidFill>
                  <a:srgbClr val="334155"/>
                </a:solidFill>
              </a:rPr>
              <a:t>&lt; 120 ms (Instant API response)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Interactive Map &amp; Multilingual Advisories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Sub-District Block Risk Choropleths &amp; Actionable Vernacular Guidance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04_geospatial_block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12080" cy="3094673"/>
          </a:xfrm>
          <a:prstGeom prst="rect">
            <a:avLst/>
          </a:prstGeom>
        </p:spPr>
      </p:pic>
      <p:pic>
        <p:nvPicPr>
          <p:cNvPr id="6" name="Picture 5" descr="05_multilingual_advisories_hind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5212080" cy="34204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District Officer &amp; Disaster Management Console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Multi-Block Monitoring, Threshold Warnings &amp; Automated Alert Dispatching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08_officer_command_cen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212080" cy="3094673"/>
          </a:xfrm>
          <a:prstGeom prst="rect">
            <a:avLst/>
          </a:prstGeom>
        </p:spPr>
      </p:pic>
      <p:pic>
        <p:nvPicPr>
          <p:cNvPr id="6" name="Picture 5" descr="09_officer_analyti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600200"/>
            <a:ext cx="5212080" cy="30946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Georgia"/>
              </a:defRPr>
            </a:pPr>
            <a:r>
              <a:t>National Rollout &amp; Ecosystem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00" b="1">
                <a:solidFill>
                  <a:srgbClr val="0284C7"/>
                </a:solidFill>
                <a:latin typeface="Arial"/>
              </a:defRPr>
            </a:pPr>
            <a:r>
              <a:t>Scaling from Pilot Districts to Pan-India 6,000+ Administrative Blocks</a:t>
            </a:r>
          </a:p>
        </p:txBody>
      </p:sp>
      <p:pic>
        <p:nvPicPr>
          <p:cNvPr id="4" name="Picture 3" descr="sih_bulb_logo_extra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0" y="182880"/>
            <a:ext cx="960120" cy="1331576"/>
          </a:xfrm>
          <a:prstGeom prst="rect">
            <a:avLst/>
          </a:prstGeom>
        </p:spPr>
      </p:pic>
      <p:pic>
        <p:nvPicPr>
          <p:cNvPr id="5" name="Picture 4" descr="diagram-road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00200"/>
            <a:ext cx="5669280" cy="19842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75120" y="1600200"/>
            <a:ext cx="4754880" cy="4663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MoES / NCMRWF High-Performance Integration
</a:t>
            </a:r>
            <a:r>
              <a:rPr sz="1200">
                <a:solidFill>
                  <a:srgbClr val="334155"/>
                </a:solidFill>
              </a:rPr>
              <a:t>Seamless deployment as an operational microservice atop NCMRWF Mihir/Pratyush supercomputing clusters.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PMFBY Crop Insurance Ground Truth
</a:t>
            </a:r>
            <a:r>
              <a:rPr sz="1200">
                <a:solidFill>
                  <a:srgbClr val="334155"/>
                </a:solidFill>
              </a:rPr>
              <a:t>Verifiable downscaled hyper-local historical rainfall data for objective crop loss compensation claims.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KVK &amp; Farmer Producer Organisation (FPO) Reach
</a:t>
            </a:r>
            <a:r>
              <a:rPr sz="1200">
                <a:solidFill>
                  <a:srgbClr val="334155"/>
                </a:solidFill>
              </a:rPr>
              <a:t>Direct API integration into Meghdoot and Damini apps, with automated WhatsApp/SMS voice alerts in regional dialects.</a:t>
            </a:r>
          </a:p>
          <a:p>
            <a:pPr>
              <a:spcAft>
                <a:spcPts val="1000"/>
              </a:spcAft>
            </a:pPr>
            <a:r>
              <a:rPr b="1" sz="1400">
                <a:solidFill>
                  <a:srgbClr val="0F172A"/>
                </a:solidFill>
              </a:rPr>
              <a:t>• Cost Efficiency &amp; Zero Hardware Overhead
</a:t>
            </a:r>
            <a:r>
              <a:rPr sz="1200">
                <a:solidFill>
                  <a:srgbClr val="334155"/>
                </a:solidFill>
              </a:rPr>
              <a:t>FastAPI + LightGBM architecture runs inference in &lt;120ms with low memory footprint, scaling to all 6,000+ blocks in India at minimal cloud compute cost.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